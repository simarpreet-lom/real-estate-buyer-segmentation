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3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23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567160" y="201168"/>
            <a:ext cx="624535" cy="6455664"/>
          </a:xfrm>
          <a:prstGeom prst="rect">
            <a:avLst/>
          </a:prstGeom>
          <a:solidFill>
            <a:srgbClr val="23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10424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900" b="1">
                <a:solidFill>
                  <a:srgbClr val="FFFFFF"/>
                </a:solidFill>
              </a:defRPr>
            </a:pPr>
            <a:r>
              <a:t>MACHINE LEARNING BASED BUYER SEGMENTATION</a:t>
            </a:r>
            <a:br/>
            <a:r>
              <a:t>AND INVESTMENT PROFILING FOR REAL ESTATE</a:t>
            </a:r>
            <a:br/>
            <a:r>
              <a:t>MARKET INTELLIGENCE</a:t>
            </a:r>
          </a:p>
          <a:p>
            <a:pPr>
              <a:defRPr sz="2000" b="1">
                <a:solidFill>
                  <a:srgbClr val="B4E6E1"/>
                </a:solidFill>
              </a:defRPr>
            </a:pPr>
            <a:r>
              <a:t>INTERNSHIP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4069080"/>
            <a:ext cx="91440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FFFFFF"/>
                </a:solidFill>
              </a:defRPr>
            </a:pPr>
            <a:r>
              <a:t>Submitted By: Simarpreet Kaur</a:t>
            </a:r>
          </a:p>
          <a:p>
            <a:pPr>
              <a:spcAft>
                <a:spcPts val="700"/>
              </a:spcAft>
              <a:defRPr sz="1600">
                <a:solidFill>
                  <a:srgbClr val="FFFFFF"/>
                </a:solidFill>
              </a:defRPr>
            </a:pPr>
            <a:r>
              <a:t>B.Sc. Information Technology — 5th Semester</a:t>
            </a:r>
          </a:p>
          <a:p>
            <a:pPr>
              <a:spcAft>
                <a:spcPts val="700"/>
              </a:spcAft>
              <a:defRPr sz="1600">
                <a:solidFill>
                  <a:srgbClr val="FFFFFF"/>
                </a:solidFill>
              </a:defRPr>
            </a:pPr>
            <a:r>
              <a:t>Internship Organization: Unified Mentor</a:t>
            </a:r>
          </a:p>
          <a:p>
            <a:pPr>
              <a:spcAft>
                <a:spcPts val="700"/>
              </a:spcAft>
              <a:defRPr sz="1600">
                <a:solidFill>
                  <a:srgbClr val="FFFFFF"/>
                </a:solidFill>
              </a:defRPr>
            </a:pPr>
            <a:r>
              <a:t>Internship Domain: Data Analytics / Machine Learning</a:t>
            </a:r>
          </a:p>
          <a:p>
            <a:pPr>
              <a:spcAft>
                <a:spcPts val="700"/>
              </a:spcAft>
              <a:defRPr sz="1600">
                <a:solidFill>
                  <a:srgbClr val="FFFFFF"/>
                </a:solidFill>
              </a:defRPr>
            </a:pPr>
            <a:r>
              <a:t>Academic Year: 2026–2027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1.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</a:defRPr>
            </a:pPr>
            <a:r>
              <a:t>• Real estate buyers differ in demographics, geography, purchasing capacity, and acquisition purpose.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</a:defRPr>
            </a:pPr>
            <a:r>
              <a:t>• Treating all buyers as one group can reduce the effectiveness of marketing and customer targeting.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</a:defRPr>
            </a:pPr>
            <a:r>
              <a:t>• Machine learning clustering can discover groups of buyers with similar characteristics without predefined labels.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</a:defRPr>
            </a:pPr>
            <a:r>
              <a:t>• This project combines client information with property transaction behaviour to identify meaningful buyer segments.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647688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2.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</a:defRPr>
            </a:pPr>
            <a:r>
              <a:t>• Real estate organizations may use similar marketing strategies for buyers with very different behaviours and requirements.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</a:defRPr>
            </a:pPr>
            <a:r>
              <a:t>• This can lead to inefficient marketing campaigns and difficulty identifying valuable customer groups.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</a:defRPr>
            </a:pPr>
            <a:r>
              <a:t>• A data-driven system is needed to identify buyers with similar characteristics and transaction behaviour.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</a:defRPr>
            </a:pPr>
            <a:r>
              <a:t>• The project develops a machine-learning-based segmentation approach to support market intelligence and investment profiling.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647688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3.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</a:defRPr>
            </a:pPr>
            <a:r>
              <a:t>• Analyse demographic, geographic, behavioural, and transaction characteristics.</a:t>
            </a:r>
          </a:p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</a:defRPr>
            </a:pPr>
            <a:r>
              <a:t>• Clean and preprocess client and property transaction data.</a:t>
            </a:r>
          </a:p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</a:defRPr>
            </a:pPr>
            <a:r>
              <a:t>• Create buyer-level features such as properties bought, total spend, average property price, and total area.</a:t>
            </a:r>
          </a:p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</a:defRPr>
            </a:pPr>
            <a:r>
              <a:t>• Apply K-Means clustering and evaluate the number of clusters using the Elbow Method and Silhouette Score.</a:t>
            </a:r>
          </a:p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</a:defRPr>
            </a:pPr>
            <a:r>
              <a:t>• Compare K-Means with hierarchical clustering and interpret the resulting buyer segments.</a:t>
            </a:r>
          </a:p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</a:defRPr>
            </a:pPr>
            <a:r>
              <a:t>• Provide insights that support targeted marketing and real estate market intelligence.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647688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4. Dataset Description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2468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237D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62B47"/>
                </a:solidFill>
              </a:defRPr>
            </a:pPr>
            <a:r>
              <a:t>2,000</a:t>
            </a:r>
          </a:p>
          <a:p>
            <a:pPr algn="ctr">
              <a:defRPr sz="1200">
                <a:solidFill>
                  <a:srgbClr val="646E78"/>
                </a:solidFill>
              </a:defRPr>
            </a:pPr>
            <a:r>
              <a:t>Client records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325880"/>
            <a:ext cx="2468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237D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62B47"/>
                </a:solidFill>
              </a:defRPr>
            </a:pPr>
            <a:r>
              <a:t>10,000</a:t>
            </a:r>
          </a:p>
          <a:p>
            <a:pPr algn="ctr">
              <a:defRPr sz="1200">
                <a:solidFill>
                  <a:srgbClr val="646E78"/>
                </a:solidFill>
              </a:defRPr>
            </a:pPr>
            <a:r>
              <a:t>Property records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25880"/>
            <a:ext cx="2468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237D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62B47"/>
                </a:solidFill>
              </a:defRPr>
            </a:pPr>
            <a:r>
              <a:t>7,305</a:t>
            </a:r>
          </a:p>
          <a:p>
            <a:pPr algn="ctr">
              <a:defRPr sz="1200">
                <a:solidFill>
                  <a:srgbClr val="646E78"/>
                </a:solidFill>
              </a:defRPr>
            </a:pPr>
            <a:r>
              <a:t>Sold transactions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325880"/>
            <a:ext cx="2468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237D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62B47"/>
                </a:solidFill>
              </a:defRPr>
            </a:pPr>
            <a:r>
              <a:t>2</a:t>
            </a:r>
          </a:p>
          <a:p>
            <a:pPr algn="ctr">
              <a:defRPr sz="1200">
                <a:solidFill>
                  <a:srgbClr val="646E78"/>
                </a:solidFill>
              </a:defRPr>
            </a:pPr>
            <a:r>
              <a:t>Final buyer segments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71800"/>
            <a:ext cx="107899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</a:defRPr>
            </a:pPr>
            <a:r>
              <a:t>• Client data includes client type, date of birth, gender, country, region, acquisition purpose, satisfaction, loan status, and referral channel.</a:t>
            </a:r>
          </a:p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</a:defRPr>
            </a:pPr>
            <a:r>
              <a:t>• Property data includes listing information, transaction date, unit details, floor area, sale price, listing status, and client reference.</a:t>
            </a:r>
          </a:p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</a:defRPr>
            </a:pPr>
            <a:r>
              <a:t>• Sold properties were grouped by client to create buyer-level transaction features.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0" y="6647688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5. Data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32323"/>
                </a:solidFill>
              </a:defRPr>
            </a:pPr>
            <a:r>
              <a:t>• Converted date fields into appropriate datetime formats and calculated buyer age.</a:t>
            </a:r>
          </a:p>
          <a:p>
            <a:pPr>
              <a:spcAft>
                <a:spcPts val="1200"/>
              </a:spcAft>
              <a:defRPr sz="1600">
                <a:solidFill>
                  <a:srgbClr val="232323"/>
                </a:solidFill>
              </a:defRPr>
            </a:pPr>
            <a:r>
              <a:t>• Cleaned sale-price values by removing currency symbols and separators.</a:t>
            </a:r>
          </a:p>
          <a:p>
            <a:pPr>
              <a:spcAft>
                <a:spcPts val="1200"/>
              </a:spcAft>
              <a:defRPr sz="1600">
                <a:solidFill>
                  <a:srgbClr val="232323"/>
                </a:solidFill>
              </a:defRPr>
            </a:pPr>
            <a:r>
              <a:t>• Checked for duplicate records.</a:t>
            </a:r>
          </a:p>
          <a:p>
            <a:pPr>
              <a:spcAft>
                <a:spcPts val="1200"/>
              </a:spcAft>
              <a:defRPr sz="1600">
                <a:solidFill>
                  <a:srgbClr val="232323"/>
                </a:solidFill>
              </a:defRPr>
            </a:pPr>
            <a:r>
              <a:t>• Used only Sold properties for completed transaction behaviour.</a:t>
            </a:r>
          </a:p>
          <a:p>
            <a:pPr>
              <a:spcAft>
                <a:spcPts val="1200"/>
              </a:spcAft>
              <a:defRPr sz="1600">
                <a:solidFill>
                  <a:srgbClr val="232323"/>
                </a:solidFill>
              </a:defRPr>
            </a:pPr>
            <a:r>
              <a:t>• Calculated properties bought, total spend, average property price, and total area.</a:t>
            </a:r>
          </a:p>
          <a:p>
            <a:pPr>
              <a:spcAft>
                <a:spcPts val="1200"/>
              </a:spcAft>
              <a:defRPr sz="1600">
                <a:solidFill>
                  <a:srgbClr val="232323"/>
                </a:solidFill>
              </a:defRPr>
            </a:pPr>
            <a:r>
              <a:t>• Merged transaction features with client data; filled missing transaction values with zero.</a:t>
            </a:r>
          </a:p>
          <a:p>
            <a:pPr>
              <a:spcAft>
                <a:spcPts val="1200"/>
              </a:spcAft>
              <a:defRPr sz="1600">
                <a:solidFill>
                  <a:srgbClr val="232323"/>
                </a:solidFill>
              </a:defRPr>
            </a:pPr>
            <a:r>
              <a:t>• Applied StandardScaler to numerical variables and One-Hot Encoding to categorical variables.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647688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6. Machine Learning Methodology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2331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37D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237D7D"/>
                </a:solidFill>
              </a:defRPr>
            </a:pPr>
            <a:r>
              <a:t>1</a:t>
            </a:r>
          </a:p>
          <a:p>
            <a:pPr algn="ctr">
              <a:defRPr sz="1400" b="1">
                <a:solidFill>
                  <a:srgbClr val="162B47"/>
                </a:solidFill>
              </a:defRPr>
            </a:pPr>
            <a:r>
              <a:t>Feature Selection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417320"/>
            <a:ext cx="2331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37D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237D7D"/>
                </a:solidFill>
              </a:defRPr>
            </a:pPr>
            <a:r>
              <a:t>2</a:t>
            </a:r>
          </a:p>
          <a:p>
            <a:pPr algn="ctr">
              <a:defRPr sz="1400" b="1">
                <a:solidFill>
                  <a:srgbClr val="162B47"/>
                </a:solidFill>
              </a:defRPr>
            </a:pPr>
            <a:r>
              <a:t>One-Hot Encoding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17320"/>
            <a:ext cx="2331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37D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237D7D"/>
                </a:solidFill>
              </a:defRPr>
            </a:pPr>
            <a:r>
              <a:t>3</a:t>
            </a:r>
          </a:p>
          <a:p>
            <a:pPr algn="ctr">
              <a:defRPr sz="1400" b="1">
                <a:solidFill>
                  <a:srgbClr val="162B47"/>
                </a:solidFill>
              </a:defRPr>
            </a:pPr>
            <a:r>
              <a:t>Standard Scaling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06839" y="1417320"/>
            <a:ext cx="2331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37D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237D7D"/>
                </a:solidFill>
              </a:defRPr>
            </a:pPr>
            <a:r>
              <a:t>4</a:t>
            </a:r>
          </a:p>
          <a:p>
            <a:pPr algn="ctr">
              <a:defRPr sz="1400" b="1">
                <a:solidFill>
                  <a:srgbClr val="162B47"/>
                </a:solidFill>
              </a:defRPr>
            </a:pPr>
            <a:r>
              <a:t>Elbow + Silhouette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83280"/>
            <a:ext cx="2331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37D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237D7D"/>
                </a:solidFill>
              </a:defRPr>
            </a:pPr>
            <a:r>
              <a:t>5</a:t>
            </a:r>
          </a:p>
          <a:p>
            <a:pPr algn="ctr">
              <a:defRPr sz="1400" b="1">
                <a:solidFill>
                  <a:srgbClr val="162B47"/>
                </a:solidFill>
              </a:defRPr>
            </a:pPr>
            <a:r>
              <a:t>K-Means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3383280"/>
            <a:ext cx="2331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37D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237D7D"/>
                </a:solidFill>
              </a:defRPr>
            </a:pPr>
            <a:r>
              <a:t>6</a:t>
            </a:r>
          </a:p>
          <a:p>
            <a:pPr algn="ctr">
              <a:defRPr sz="1400" b="1">
                <a:solidFill>
                  <a:srgbClr val="162B47"/>
                </a:solidFill>
              </a:defRPr>
            </a:pPr>
            <a:r>
              <a:t>Hierarchical Comparison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383280"/>
            <a:ext cx="2331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37D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237D7D"/>
                </a:solidFill>
              </a:defRPr>
            </a:pPr>
            <a:r>
              <a:t>7</a:t>
            </a:r>
          </a:p>
          <a:p>
            <a:pPr algn="ctr">
              <a:defRPr sz="1400" b="1">
                <a:solidFill>
                  <a:srgbClr val="162B47"/>
                </a:solidFill>
              </a:defRPr>
            </a:pPr>
            <a:r>
              <a:t>Segment Interpretation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0" y="6647688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7. Elbow Method &amp; K-Means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• The Elbow Method was used to observe how within-cluster variation changes as K increases.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• Silhouette Scores were evaluated for K = 2 to 8.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• The highest Silhouette Score was obtained at K = 2: 0.1562.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• Therefore, two clusters were selected for the final K-Means segmentation model.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• The final K-Means model used random_state = 42 and multiple initializations.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12280" y="1828800"/>
            <a:ext cx="42976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237D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162B47"/>
                </a:solidFill>
              </a:defRPr>
            </a:pPr>
            <a:r>
              <a:t>Selected K = 2</a:t>
            </a:r>
          </a:p>
          <a:p>
            <a:pPr algn="ctr">
              <a:defRPr sz="1800">
                <a:solidFill>
                  <a:srgbClr val="646E78"/>
                </a:solidFill>
              </a:defRPr>
            </a:pPr>
            <a:r>
              <a:t>Silhouette Score = 0.1562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647688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8. Buyer Segmentation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43000"/>
            <a:ext cx="534924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237D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162B47"/>
                </a:solidFill>
              </a:defRPr>
            </a:pPr>
            <a:r>
              <a:t>Standard Property Buyers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t>Buyers: 1,155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t>Share: 57.75%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t>Avg. total spend: $1,039,153.71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t>Avg. property price: $309,012.52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t>Avg. properties bought: 3.39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t>Avg. total area: 3,463.13 sq. ft.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143000"/>
            <a:ext cx="534924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237D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162B47"/>
                </a:solidFill>
              </a:defRPr>
            </a:pPr>
            <a:r>
              <a:t>High-Value Property Buyers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t>Buyers: 845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t>Share: 42.25%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t>Avg. total spend: $1,562,755.53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t>Avg. property price: $399,136.62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t>Avg. properties bought: 4.00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t>Avg. total area: 5,131.56 sq. ft.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647688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9. Business Insights &amp; Investment Profiling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</a:defRPr>
            </a:pPr>
            <a:r>
              <a:t>• High-Value Property Buyers show higher observed transaction activity: more properties, higher spending, higher average property prices, and larger purchased area.</a:t>
            </a:r>
          </a:p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</a:defRPr>
            </a:pPr>
            <a:r>
              <a:t>• Standard Property Buyers form the majority of the customer base and remain important for regular marketing and engagement.</a:t>
            </a:r>
          </a:p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</a:defRPr>
            </a:pPr>
            <a:r>
              <a:t>• Home/personal-use purchases are more common than investment purchases in both segments.</a:t>
            </a:r>
          </a:p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</a:defRPr>
            </a:pPr>
            <a:r>
              <a:t>• Therefore, the High-Value segment should not automatically be classified as an investment-only group.</a:t>
            </a:r>
          </a:p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</a:defRPr>
            </a:pPr>
            <a:r>
              <a:t>• Geographic targeting can be useful because the United States is dominant and California is the most represented region.</a:t>
            </a:r>
          </a:p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</a:defRPr>
            </a:pPr>
            <a:r>
              <a:t>• Loan behaviour is relatively similar between the two segments.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647688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10. Streamlit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• Buyer Segmentation Overview — displays total buyers, identified segments, properties purchased, and segment distribution.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• Buyer Behaviour Analysis — compares average spending, properties purchased, and total area.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• Geographic Buyer Analysis — identifies top regions and geographic concentration.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• Segment Insights Panel — summarizes buyer count, age, satisfaction, purchases, spending, price, and area.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• Interactive filters allow exploration by country, region, acquisition purpose, and client type.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647688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11. Conclusion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</a:defRPr>
            </a:pPr>
            <a:r>
              <a:t>• K-Means successfully identified two broad transaction-based buyer segments: Standard Property Buyers and High-Value Property Buyers.</a:t>
            </a:r>
          </a:p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</a:defRPr>
            </a:pPr>
            <a:r>
              <a:t>• High-Value Property Buyers demonstrated higher average spending, property purchases, property prices, and total area.</a:t>
            </a:r>
          </a:p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</a:defRPr>
            </a:pPr>
            <a:r>
              <a:t>• The results can support targeted marketing, personalized property recommendations, and data-driven market intelligence.</a:t>
            </a:r>
          </a:p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</a:defRPr>
            </a:pPr>
            <a:r>
              <a:t>• Future work can add verified income, financing, property preferences, and economic indicators.</a:t>
            </a:r>
          </a:p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</a:defRPr>
            </a:pPr>
            <a:r>
              <a:t>• Advanced clustering, predictive analytics, interactive maps, automated recommendations, and periodic model retraining can further improve the system.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21040" y="5257800"/>
            <a:ext cx="2743200" cy="685800"/>
          </a:xfrm>
          <a:prstGeom prst="roundRect">
            <a:avLst/>
          </a:prstGeom>
          <a:solidFill>
            <a:srgbClr val="23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647688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